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Booking Outcome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65.96</c:v>
                </c:pt>
                <c:pt idx="1">
                  <c:v>25</c:v>
                </c:pt>
                <c:pt idx="2">
                  <c:v>9.04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65.96</c:v>
                </c:pt>
                <c:pt idx="1">
                  <c:v>25</c:v>
                </c:pt>
                <c:pt idx="2">
                  <c:v>9.04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RIDE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583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Aptos Display"/>
              </a:defRPr>
            </a:pPr>
            <a:r>
              <a:t>RidePulse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7772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D4E1F5"/>
                </a:solidFill>
                <a:latin typeface="Aptos"/>
              </a:defRPr>
            </a:pPr>
            <a:r>
              <a:t>Ride-Sharing Revenue &amp;</a:t>
            </a:r>
            <a:br/>
            <a:r>
              <a:t>Operations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7600"/>
            <a:ext cx="914400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3657600"/>
            <a:ext cx="960120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66674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3657600"/>
            <a:ext cx="868680" cy="310896"/>
          </a:xfrm>
          <a:prstGeom prst="round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666744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657600"/>
            <a:ext cx="685800" cy="310896"/>
          </a:xfrm>
          <a:prstGeom prst="roundRect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66674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24528"/>
            <a:ext cx="6217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End-to-end Data Analytics Portfolio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45152"/>
            <a:ext cx="79552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C3DC"/>
                </a:solidFill>
                <a:latin typeface="Aptos"/>
              </a:defRPr>
            </a:pPr>
            <a:r>
              <a:t>Raw data → preparation → EDA → SQL analysis → business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051560"/>
            <a:ext cx="2880360" cy="3611880"/>
          </a:xfrm>
          <a:prstGeom prst="roundRect">
            <a:avLst/>
          </a:prstGeom>
          <a:solidFill>
            <a:srgbClr val="16223A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2801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6BED2"/>
                </a:solidFill>
                <a:latin typeface="Aptos"/>
              </a:defRPr>
            </a:pPr>
            <a:r>
              <a:t>LIVE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73736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1737360"/>
            <a:ext cx="64008" cy="77724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874519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219456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148,770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651760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651760"/>
            <a:ext cx="64008" cy="749808"/>
          </a:xfrm>
          <a:prstGeom prst="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788920"/>
            <a:ext cx="731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3108960"/>
            <a:ext cx="731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65.96%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651760"/>
            <a:ext cx="1097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66960" y="2651760"/>
            <a:ext cx="64008" cy="749808"/>
          </a:xfrm>
          <a:prstGeom prst="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128" y="2788920"/>
            <a:ext cx="731519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3108960"/>
            <a:ext cx="731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25%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3840480"/>
            <a:ext cx="182880" cy="32004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71432" y="3840480"/>
            <a:ext cx="182880" cy="50292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18904" y="3840480"/>
            <a:ext cx="182880" cy="73152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66376" y="3840480"/>
            <a:ext cx="182880" cy="566928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13848" y="3840480"/>
            <a:ext cx="182880" cy="86868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61320" y="3840480"/>
            <a:ext cx="182880" cy="658368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Executive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14300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45919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TOTAL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148,770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64008" cy="1143000"/>
          </a:xfrm>
          <a:prstGeom prst="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645919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COMPLETED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965960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65.96%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508760"/>
            <a:ext cx="64008" cy="1143000"/>
          </a:xfrm>
          <a:prstGeom prst="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1645919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CANCELLATION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1965960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25.00%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5087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1508760"/>
            <a:ext cx="64008" cy="1143000"/>
          </a:xfrm>
          <a:prstGeom prst="rect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3688" y="1645919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CUSTOMER CANCEL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1965960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19.15%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2608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Booking outcome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3246120"/>
          <a:ext cx="475488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623560" y="2926080"/>
            <a:ext cx="5486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21868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WHAT THIS PROJECT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6118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D3E"/>
                </a:solidFill>
                <a:latin typeface="Aptos"/>
              </a:defRPr>
            </a:pPr>
            <a:r>
              <a:t>•  Where is booking value generated?</a:t>
            </a:r>
          </a:p>
          <a:p>
            <a:pPr>
              <a:spcAft>
                <a:spcPts val="900"/>
              </a:spcAft>
              <a:defRPr sz="1300">
                <a:solidFill>
                  <a:srgbClr val="232D3E"/>
                </a:solidFill>
                <a:latin typeface="Aptos"/>
              </a:defRPr>
            </a:pPr>
            <a:r>
              <a:t>•  Which vehicle categories drive demand?</a:t>
            </a:r>
          </a:p>
          <a:p>
            <a:pPr>
              <a:spcAft>
                <a:spcPts val="900"/>
              </a:spcAft>
              <a:defRPr sz="1300">
                <a:solidFill>
                  <a:srgbClr val="232D3E"/>
                </a:solidFill>
                <a:latin typeface="Aptos"/>
              </a:defRPr>
            </a:pPr>
            <a:r>
              <a:t>•  Where are cancellations concentrated?</a:t>
            </a:r>
          </a:p>
          <a:p>
            <a:pPr>
              <a:spcAft>
                <a:spcPts val="900"/>
              </a:spcAft>
              <a:defRPr sz="1300">
                <a:solidFill>
                  <a:srgbClr val="232D3E"/>
                </a:solidFill>
                <a:latin typeface="Aptos"/>
              </a:defRPr>
            </a:pPr>
            <a:r>
              <a:t>•  How do payment and distance patterns differ?</a:t>
            </a:r>
          </a:p>
          <a:p>
            <a:pPr>
              <a:spcAft>
                <a:spcPts val="900"/>
              </a:spcAft>
              <a:defRPr sz="1300">
                <a:solidFill>
                  <a:srgbClr val="232D3E"/>
                </a:solidFill>
                <a:latin typeface="Aptos"/>
              </a:defRPr>
            </a:pPr>
            <a:r>
              <a:t>•  How does booking activity change over time?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WHY RIDEPULSE?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66360" cy="4251960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Raw booking records contain the data — but not the business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4251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3D2EB"/>
                </a:solidFill>
                <a:latin typeface="Aptos"/>
              </a:defRPr>
            </a:pPr>
            <a:r>
              <a:t>RidePulse converts booking-level records into structured operational and revenue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983480"/>
            <a:ext cx="914400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92624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983480"/>
            <a:ext cx="1097280" cy="310896"/>
          </a:xfrm>
          <a:prstGeom prst="round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992624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983480"/>
            <a:ext cx="1051560" cy="310896"/>
          </a:xfrm>
          <a:prstGeom prst="roundRect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99262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6420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2148840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30552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Measure overall booking performance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715768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Compare vehicle categories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282696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64408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Diagnose customer &amp; driver cancellations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849624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831336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Analyze payment behavior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416552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398264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Compare ride-distance patterns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983480"/>
            <a:ext cx="256032" cy="25603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965192"/>
            <a:ext cx="4663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32D3E"/>
                </a:solidFill>
                <a:latin typeface="Aptos"/>
              </a:defRPr>
            </a:pPr>
            <a:r>
              <a:t>Track monthly booking-value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Dataset &amp; Analytical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09728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0020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DATASET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148,770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64008" cy="1097280"/>
          </a:xfrm>
          <a:prstGeom prst="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60020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2024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65.96%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64008" cy="1097280"/>
          </a:xfrm>
          <a:prstGeom prst="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60020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CANCELLED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920240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72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86CF0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447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Booking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063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3172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AA470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447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Booking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063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72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6BED2"/>
                </a:solidFill>
                <a:latin typeface="Aptos"/>
              </a:defRPr>
            </a:pPr>
            <a:r>
              <a:t>MOBILITY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447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Ride Distance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063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3172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09B36"/>
                </a:solidFill>
                <a:latin typeface="Aptos"/>
              </a:defRPr>
            </a:pPr>
            <a:r>
              <a:t>VEHICLE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447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Vehicle Type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06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315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86CF0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590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Payment Method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206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2" y="4315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D64C54"/>
                </a:solidFill>
                <a:latin typeface="Aptos"/>
              </a:defRPr>
            </a:pPr>
            <a:r>
              <a:t>RATINGS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5032" y="4590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Driver / Customer Rating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206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315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AA470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590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Date /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4206240"/>
            <a:ext cx="25603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54312" y="43159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09B36"/>
                </a:solidFill>
                <a:latin typeface="Aptos"/>
              </a:defRPr>
            </a:pPr>
            <a:r>
              <a:t>REASONS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45902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C1426"/>
                </a:solidFill>
                <a:latin typeface="Aptos"/>
              </a:defRPr>
            </a:pPr>
            <a:r>
              <a:t>Cancellation Reasons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HOW IT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Technology Stack &amp;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73351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Core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73351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03911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Data manipulation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73351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3911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Numerical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0876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673351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03911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290779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27355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74320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290779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27355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Business queries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4320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90779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Jupyter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27355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Reproducible notebooks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743200"/>
            <a:ext cx="2514600" cy="96012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290779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C1426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3273552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707C8E"/>
                </a:solidFill>
                <a:latin typeface="Aptos"/>
              </a:defRPr>
            </a:pPr>
            <a:r>
              <a:t>Versioned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05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END-TO-END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960120" cy="566928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39112" y="4617720"/>
            <a:ext cx="960120" cy="566928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39112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6664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92424" y="4617720"/>
            <a:ext cx="960120" cy="566928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9976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45736" y="4617720"/>
            <a:ext cx="960120" cy="566928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45736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33288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9048" y="4617720"/>
            <a:ext cx="960120" cy="566928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4617720"/>
            <a:ext cx="960120" cy="566928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9912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05672" y="4617720"/>
            <a:ext cx="960120" cy="566928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05672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93224" y="47274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7C8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58984" y="4617720"/>
            <a:ext cx="960120" cy="566928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58984" y="4736592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Data Preparation &amp; Quality Checks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30352" cy="530352"/>
          </a:xfrm>
          <a:prstGeom prst="ellipse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819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81912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32D3E"/>
                </a:solidFill>
                <a:latin typeface="Aptos"/>
              </a:defRPr>
            </a:pPr>
            <a:r>
              <a:t>Shape, columns, types, missing values, duplicates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51760"/>
            <a:ext cx="530352" cy="530352"/>
          </a:xfrm>
          <a:prstGeom prst="ellipse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6148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3347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33472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32D3E"/>
                </a:solidFill>
                <a:latin typeface="Aptos"/>
              </a:defRPr>
            </a:pPr>
            <a:r>
              <a:t>Date/time conversion and consistency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03320"/>
            <a:ext cx="530352" cy="530352"/>
          </a:xfrm>
          <a:prstGeom prst="ellipse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13048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8503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85032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32D3E"/>
                </a:solidFill>
                <a:latin typeface="Aptos"/>
              </a:defRPr>
            </a:pPr>
            <a:r>
              <a:t>Numeric sanity, ratings and value checks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54879"/>
            <a:ext cx="530352" cy="530352"/>
          </a:xfrm>
          <a:prstGeom prst="ellipse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64607"/>
            <a:ext cx="5303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3659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36592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32D3E"/>
                </a:solidFill>
                <a:latin typeface="Aptos"/>
              </a:defRPr>
            </a:pPr>
            <a:r>
              <a:t>Cleaned dataset for downstream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10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SQL Business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38912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9616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Overall business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0008"/>
            <a:ext cx="438912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1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40864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Booking status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91256"/>
            <a:ext cx="438912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82112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Vehicle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32504"/>
            <a:ext cx="438912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Cancellation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73752"/>
            <a:ext cx="438912" cy="310896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4608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Customer cancellation reasons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508760"/>
            <a:ext cx="438912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517904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99616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Payment method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2350008"/>
            <a:ext cx="438912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359151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340864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Ride distance by vehicle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191256"/>
            <a:ext cx="438912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200400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182112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High-volume vehicle types using HAVING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4032504"/>
            <a:ext cx="438912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041648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023360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Monthly booking-value trend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873752"/>
            <a:ext cx="438912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882896"/>
            <a:ext cx="4389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Q10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4608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Vehicle ranking using RANK()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WHAT THE DATA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Operational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2AA470"/>
                </a:solidFill>
                <a:latin typeface="Aptos Display"/>
              </a:defRPr>
            </a:pPr>
            <a:r>
              <a:t>65.96%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07C8E"/>
                </a:solidFill>
                <a:latin typeface="Aptos"/>
              </a:defRPr>
            </a:pPr>
            <a:r>
              <a:t>completed bookings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4572000" cy="41148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3017520" cy="411480"/>
          </a:xfrm>
          <a:prstGeom prst="round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D64C54"/>
                </a:solidFill>
                <a:latin typeface="Aptos Display"/>
              </a:defRPr>
            </a:pPr>
            <a:r>
              <a:t>25.00%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07C8E"/>
                </a:solidFill>
                <a:latin typeface="Aptos"/>
              </a:defRPr>
            </a:pPr>
            <a:r>
              <a:t>cancelled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4572000" cy="411480"/>
          </a:xfrm>
          <a:prstGeom prst="roundRect">
            <a:avLst/>
          </a:prstGeom>
          <a:solidFill>
            <a:srgbClr val="E1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1143000" cy="411480"/>
          </a:xfrm>
          <a:prstGeom prst="round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0" y="1600200"/>
            <a:ext cx="52578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0195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CANCELLATION BREAKDOWN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468880"/>
            <a:ext cx="64008" cy="1051560"/>
          </a:xfrm>
          <a:prstGeom prst="rect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606040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2608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19.15%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46888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2468880"/>
            <a:ext cx="64008" cy="1051560"/>
          </a:xfrm>
          <a:prstGeom prst="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2606040"/>
            <a:ext cx="1691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2926080"/>
            <a:ext cx="1691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7.45%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88620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D3E"/>
                </a:solidFill>
                <a:latin typeface="Aptos"/>
              </a:defRPr>
            </a:pPr>
            <a:r>
              <a:t>Together, customer and driver cancellations account for the 25% cancellation share reported for the dataset.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WHERE THE PROJECT CREATES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Business Analysis Dimensions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Booking value by vehicle &amp;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55648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14884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Booking volume &amp;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5448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755648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D64C54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14884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Cancellation behavior &amp;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675887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AA470"/>
                </a:solidFill>
                <a:latin typeface="Aptos"/>
              </a:defRPr>
            </a:pPr>
            <a:r>
              <a:t>MOBILITY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6908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Distance by vehicle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7472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3675887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09B36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06908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Payment usage &amp;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474720"/>
            <a:ext cx="3383280" cy="15087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675887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406908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C1426"/>
                </a:solidFill>
                <a:latin typeface="Aptos"/>
              </a:defRPr>
            </a:pPr>
            <a:r>
              <a:t>Monthly booking-value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6BED2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Python ↔ MySQL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4251960"/>
          </a:xfrm>
          <a:prstGeom prst="roundRect">
            <a:avLst/>
          </a:prstGeom>
          <a:solidFill>
            <a:srgbClr val="152139"/>
          </a:solidFill>
          <a:ln>
            <a:solidFill>
              <a:srgbClr val="37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DATABASE →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4805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conn = mysql.connector.connect(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host="localhost",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user="root",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password="...",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database="ridepulse"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df = pd.read_sql(query, conn)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SQL handles structured business querying.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Pandas turns query results into analysis-ready DataFrames.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Python supports visualization and reporting.</a:t>
            </a:r>
          </a:p>
          <a:p>
            <a:pPr>
              <a:spcAft>
                <a:spcPts val="9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The workflow is reproducible from notebook to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6CF0"/>
                </a:solidFill>
                <a:latin typeface="Aptos"/>
              </a:defRPr>
            </a:pPr>
            <a:r>
              <a:t>PORTFOLIO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66928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0C1426"/>
                </a:solidFill>
                <a:latin typeface="Aptos Display"/>
              </a:defRPr>
            </a:pPr>
            <a:r>
              <a:t>GitHub Repository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6400800" cy="4846320"/>
          </a:xfrm>
          <a:prstGeom prst="round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58521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RidePulse/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├── data/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├── ncr_ride_bookings.csv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└── cleaned_ride_bookings.csv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├── notebooks/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├── 01_data_audit.ipynb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├── 02_data_cleaning.ipynb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├── 03_eda.ipynb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└── 04_business_insights.ipynb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├── sql/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├── 01_database_setup.sql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│   └── 02_business_analysis.sql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├── visualizations/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6459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86CF0"/>
                </a:solidFill>
                <a:latin typeface="Aptos"/>
              </a:defRPr>
            </a:pPr>
            <a:r>
              <a:t>PORTFOLIO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103120"/>
            <a:ext cx="3474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103120"/>
            <a:ext cx="64008" cy="566928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2240279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56032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Raw + cleaned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816352"/>
            <a:ext cx="3474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2816352"/>
            <a:ext cx="64008" cy="566928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953512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NOTEBOOKS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27355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Audit → EDA →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529584"/>
            <a:ext cx="3474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3529584"/>
            <a:ext cx="64008" cy="566928"/>
          </a:xfrm>
          <a:prstGeom prst="rect">
            <a:avLst/>
          </a:prstGeom>
          <a:solidFill>
            <a:srgbClr val="2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66744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986783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Database +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242816"/>
            <a:ext cx="3474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4242816"/>
            <a:ext cx="64008" cy="566928"/>
          </a:xfrm>
          <a:prstGeom prst="rect">
            <a:avLst/>
          </a:prstGeom>
          <a:solidFill>
            <a:srgbClr val="F0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4379976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VISUALS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4700016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Charts /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956048"/>
            <a:ext cx="3474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79" y="4956048"/>
            <a:ext cx="64008" cy="566928"/>
          </a:xfrm>
          <a:prstGeom prst="rect">
            <a:avLst/>
          </a:prstGeom>
          <a:solidFill>
            <a:srgbClr val="D64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5093208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07C8E"/>
                </a:solidFill>
                <a:latin typeface="Aptos"/>
              </a:defRPr>
            </a:pPr>
            <a:r>
              <a:t>README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541324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C1426"/>
                </a:solidFill>
                <a:latin typeface="Aptos Display"/>
              </a:defRPr>
            </a:pPr>
            <a:r>
              <a:t>Project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6BED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78638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From ride data</a:t>
            </a:r>
            <a:br/>
            <a:r>
              <a:t>to business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BECDE6"/>
                </a:solidFill>
                <a:latin typeface="Aptos"/>
              </a:defRPr>
            </a:pPr>
            <a:r>
              <a:t>RidePulse demonstrates a complete Data Analyst workflow: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1828800" cy="685800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822191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657600"/>
            <a:ext cx="1828800" cy="685800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3822191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657600"/>
            <a:ext cx="1828800" cy="685800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3822191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SQL business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657600"/>
            <a:ext cx="1828800" cy="685800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822191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Python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657600"/>
            <a:ext cx="1828800" cy="685800"/>
          </a:xfrm>
          <a:prstGeom prst="round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3822191"/>
            <a:ext cx="16824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Business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A portfolio-ready foundation for a Data Analyst GitHub project.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617720"/>
            <a:ext cx="246888" cy="54864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82912" y="4251960"/>
            <a:ext cx="246888" cy="91440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21824" y="3840480"/>
            <a:ext cx="246888" cy="132588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60736" y="4114800"/>
            <a:ext cx="246888" cy="105156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99648" y="3566160"/>
            <a:ext cx="246888" cy="1600200"/>
          </a:xfrm>
          <a:prstGeom prst="rect">
            <a:avLst/>
          </a:prstGeom>
          <a:solidFill>
            <a:srgbClr val="28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19672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1">
                <a:solidFill>
                  <a:srgbClr val="707C8E"/>
                </a:solidFill>
                <a:latin typeface="Aptos"/>
              </a:defRPr>
            </a:pPr>
            <a:r>
              <a:t>RIDE PULSE  •  DATA ANALYTICS PORTFOLIO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